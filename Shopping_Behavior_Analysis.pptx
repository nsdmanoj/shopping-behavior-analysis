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444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52-41A0-9786-1D835E86FA3C}"/>
              </c:ext>
            </c:extLst>
          </c:dPt>
          <c:dPt>
            <c:idx val="1"/>
            <c:invertIfNegative val="0"/>
            <c:bubble3D val="0"/>
            <c:spPr>
              <a:solidFill>
                <a:srgbClr val="245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52-41A0-9786-1D835E86FA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52-41A0-9786-1D835E86FA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6E-43B5-96EF-09C4FF7FE7BD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6E-43B5-96EF-09C4FF7FE7B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6E-43B5-96EF-09C4FF7FE7B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6E-43B5-96EF-09C4FF7FE7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Subscribers (27%)</c:v>
                </c:pt>
                <c:pt idx="1">
                  <c:v>Non-Subscribers (73%)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1053</c:v>
                </c:pt>
                <c:pt idx="1">
                  <c:v>2847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6E-43B5-96EF-09C4FF7FE7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CF-4254-93EC-CF617B538464}"/>
              </c:ext>
            </c:extLst>
          </c:dPt>
          <c:dPt>
            <c:idx val="1"/>
            <c:invertIfNegative val="0"/>
            <c:bubble3D val="0"/>
            <c:spPr>
              <a:solidFill>
                <a:srgbClr val="245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CF-4254-93EC-CF617B538464}"/>
              </c:ext>
            </c:extLst>
          </c:dPt>
          <c:dPt>
            <c:idx val="2"/>
            <c:invertIfNegative val="0"/>
            <c:bubble3D val="0"/>
            <c:spPr>
              <a:solidFill>
                <a:srgbClr val="1A2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CF-4254-93EC-CF617B538464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CF-4254-93EC-CF617B5384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CF-4254-93EC-CF617B5384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22-4B22-AFCD-E5D2F443C92C}"/>
              </c:ext>
            </c:extLst>
          </c:dPt>
          <c:dPt>
            <c:idx val="1"/>
            <c:bubble3D val="0"/>
            <c:spPr>
              <a:solidFill>
                <a:srgbClr val="245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22-4B22-AFCD-E5D2F443C92C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22-4B22-AFCD-E5D2F443C92C}"/>
              </c:ext>
            </c:extLst>
          </c:dPt>
          <c:cat>
            <c:strRef>
              <c:f>Sheet1!$A$2:$A$4</c:f>
              <c:strCache>
                <c:ptCount val="3"/>
                <c:pt idx="0">
                  <c:v>Loyal (3116)</c:v>
                </c:pt>
                <c:pt idx="1">
                  <c:v>Returning (701)</c:v>
                </c:pt>
                <c:pt idx="2">
                  <c:v>New (83)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22-4B22-AFCD-E5D2F443C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EF4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4F-42C7-8944-2C8C4D2BE4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9"/>
          <c:min val="3.7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4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3B-40CD-8109-48631220CE0A}"/>
              </c:ext>
            </c:extLst>
          </c:dPt>
          <c:dPt>
            <c:idx val="1"/>
            <c:invertIfNegative val="0"/>
            <c:bubble3D val="0"/>
            <c:spPr>
              <a:solidFill>
                <a:srgbClr val="245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3B-40CD-8109-48631220CE0A}"/>
              </c:ext>
            </c:extLst>
          </c:dPt>
          <c:dPt>
            <c:idx val="2"/>
            <c:invertIfNegative val="0"/>
            <c:bubble3D val="0"/>
            <c:spPr>
              <a:solidFill>
                <a:srgbClr val="1A2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3B-40CD-8109-48631220CE0A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3B-40CD-8109-48631220CE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57232</c:v>
                </c:pt>
                <c:pt idx="1">
                  <c:v>52144</c:v>
                </c:pt>
                <c:pt idx="2">
                  <c:v>47891</c:v>
                </c:pt>
                <c:pt idx="3">
                  <c:v>40644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3B-40CD-8109-48631220CE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($)</c:v>
                </c:pt>
              </c:strCache>
            </c:strRef>
          </c:tx>
          <c:spPr>
            <a:solidFill>
              <a:srgbClr val="2451A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65-47D3-9201-1C9BA5627B19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65-47D3-9201-1C9BA5627B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</c:v>
                </c:pt>
                <c:pt idx="1">
                  <c:v>Express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65-47D3-9201-1C9BA5627B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  <c:min val="57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14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2451A3">
              <a:alpha val="30000"/>
            </a:srgbClr>
          </a:solidFill>
          <a:ln w="12700">
            <a:solidFill>
              <a:srgbClr val="2451A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consumer trends to drive growth,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loyalty, and smarter marketing decisions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451A3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4608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42976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451A3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4608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3480" y="42976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451A3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4608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42976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2451A3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4608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0" cy="109728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problem, dataset summary and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420624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05840"/>
            <a:ext cx="548640" cy="109728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058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9552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59552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cleaning, feature engineering &amp; EDA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206240" cy="10972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48640" cy="1097280"/>
          </a:xfrm>
          <a:prstGeom prst="rect">
            <a:avLst/>
          </a:prstGeom>
          <a:solidFill>
            <a:srgbClr val="2451A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86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2761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segmentation and loyalty insights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420624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286000"/>
            <a:ext cx="548640" cy="1097280"/>
          </a:xfrm>
          <a:prstGeom prst="rect">
            <a:avLst/>
          </a:prstGeom>
          <a:solidFill>
            <a:srgbClr val="2451A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86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9552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27614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exploration of key 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5486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66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041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demographics, discounts, subscriptions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566160"/>
            <a:ext cx="420624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566160"/>
            <a:ext cx="5486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566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9552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9552" y="4041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for marketing and product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394960" cy="384048"/>
          </a:xfrm>
          <a:prstGeom prst="rect">
            <a:avLst/>
          </a:prstGeom>
          <a:solidFill>
            <a:srgbClr val="2451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166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retail company wants to understand customer shopping behavior to improve sales, satisfaction and loyalty.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noticed changes in: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Purchasing patterns across demographics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categories performance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channel behavior (online vs. offline)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How can consumer shopping data be leveraged to identify trends, improve engagement and optimize marketing?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960120"/>
            <a:ext cx="2971800" cy="356616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1051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2704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(Python)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09397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075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609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26426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2278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32095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7947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3776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 PREPARATION &amp; EDA (Python)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86868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8686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86868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(Rating)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20240" cy="8686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01168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075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pandas; verified schema with df.info() and .describe()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01168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92624" y="2075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624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Ratings using median per product 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readability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7180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92624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(bins) and purchase_frequency_days columns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3192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3995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= promo_code_used; dropped redundant promo_code_used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931920"/>
            <a:ext cx="420624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931920"/>
            <a:ext cx="64008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992624" y="3995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92624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Python to MySQL and loaded cleaned DataFrame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SQL BUSINESS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4023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96012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325880"/>
          <a:ext cx="22860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3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274320" y="3429000"/>
          <a:ext cx="8595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CUSTOMER SEGMENTATION &amp; PRODUCT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21945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25880"/>
          <a:ext cx="4023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960120"/>
            <a:ext cx="4297680" cy="21945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325880"/>
          <a:ext cx="42976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3401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3767328"/>
            <a:ext cx="1600200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" y="4206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084832" y="3767328"/>
            <a:ext cx="1600200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84832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084832" y="4206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803904" y="3767328"/>
            <a:ext cx="1600200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03904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03904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803904" y="4206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522976" y="3767328"/>
            <a:ext cx="1600200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22976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522976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522976" y="4206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242048" y="3767328"/>
            <a:ext cx="1600200" cy="201168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42048" y="3657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242048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242048" y="42062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POWER BI DASHBOARD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96012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960120"/>
          </a:xfrm>
          <a:prstGeom prst="rect">
            <a:avLst/>
          </a:prstGeom>
          <a:solidFill>
            <a:srgbClr val="2451A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241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9601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241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9601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2412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5074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450592"/>
          <a:ext cx="5074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577840" y="2084832"/>
            <a:ext cx="3291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Shipping</a:t>
            </a:r>
            <a:endParaRPr lang="en-US" sz="13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5577840" y="2450592"/>
          <a:ext cx="32918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Revenue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441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$157,890 vs $75,191 for female — a 2.1x difference. Targeting male segments may yield strong returns.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10912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 Dominance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0912" y="13441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(3,116) are classified as Loyal. This presents a major opportunity to deepen engagement through rewards programs.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Paradox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6700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high-spending discount users spent above the average ($59.76), proving discounts don't always erode margin — strategic use is key.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28600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10912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0912" y="26700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 despite near-identical spend ($59.49 vs $59.87). Subscription perks could convert 73% non-subscribers.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Revenue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9959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contributed the most revenue ($62,143), followed by Middle-aged ($59,197). Focus campaigns on 18–35 demographic.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1188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Upsell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39959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users spend $2 more on average than standard. Promoting premium shipping is a low-cost upsell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9436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01498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exclusive perks — early access, free shipping, loyalty points — to convert the 73% non-subscriber 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24712"/>
            <a:ext cx="36576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783080"/>
            <a:ext cx="8595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594360" cy="713232"/>
          </a:xfrm>
          <a:prstGeom prst="rect">
            <a:avLst/>
          </a:prstGeom>
          <a:solidFill>
            <a:srgbClr val="2451A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8308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3794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with tiered benefits to reinforce the Loyal segment and migrate Returning customers upward.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947672"/>
            <a:ext cx="36576" cy="384048"/>
          </a:xfrm>
          <a:prstGeom prst="rect">
            <a:avLst/>
          </a:prstGeom>
          <a:solidFill>
            <a:srgbClr val="2451A3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606040"/>
            <a:ext cx="8595360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06040"/>
            <a:ext cx="594360" cy="713232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60604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Discount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66090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discounts selectively on Hat, Sneakers, and Coat — high-discount items — while protecting margin on premium products.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770632"/>
            <a:ext cx="36576" cy="384048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429000"/>
            <a:ext cx="85953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29000"/>
            <a:ext cx="59436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42900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Spotlight Campaigns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483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top-rated items (Gloves, Sandals, Boots) and bestsellers per category in targeted email and social campaigns.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593592"/>
            <a:ext cx="36576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251960"/>
            <a:ext cx="8595360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251960"/>
            <a:ext cx="59436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25196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Targeting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430682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higher-spend campaigns at Young Adults and Male segments, which show the highest revenue contributions.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4416552"/>
            <a:ext cx="36576" cy="384048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2451A3">
              <a:alpha val="35000"/>
            </a:srgbClr>
          </a:solidFill>
          <a:ln w="12700">
            <a:solidFill>
              <a:srgbClr val="2451A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 Analysis  |  Retail Analytics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92024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383280"/>
            <a:ext cx="192024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192024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383280"/>
            <a:ext cx="192024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Behavior Analysis</dc:title>
  <dc:subject>PptxGenJS Presentation</dc:subject>
  <dc:creator>PptxGenJS</dc:creator>
  <cp:lastModifiedBy>manoj nishad</cp:lastModifiedBy>
  <cp:revision>2</cp:revision>
  <dcterms:created xsi:type="dcterms:W3CDTF">2026-04-10T22:07:57Z</dcterms:created>
  <dcterms:modified xsi:type="dcterms:W3CDTF">2026-04-11T20:17:24Z</dcterms:modified>
</cp:coreProperties>
</file>